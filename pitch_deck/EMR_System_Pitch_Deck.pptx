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>
          <a:latin typeface="Segoe UI"/>
        </a:defRPr>
      </a:lvl1pPr>
    </p:titleStyle>
    <p:bodyStyle>
      <a:lvl1pPr>
        <a:defRPr sz="1400">
          <a:latin typeface="Segoe UI"/>
        </a:defRPr>
      </a:lvl1pPr>
    </p:bodyStyle>
    <p:otherStyle>
      <a:lvl1pPr>
        <a:defRPr sz="1400"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0E7C7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5"/>
          <p:cNvSpPr/>
          <p:nvPr/>
        </p:nvSpPr>
        <p:spPr>
          <a:xfrm>
            <a:off x="7452360" y="0"/>
            <a:ext cx="228600" cy="685800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6"/>
          <p:cNvSpPr/>
          <p:nvPr/>
        </p:nvSpPr>
        <p:spPr>
          <a:xfrm>
            <a:off x="9555480" y="2468880"/>
            <a:ext cx="7772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8942832" y="3090672"/>
            <a:ext cx="20116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731520" y="1874520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1">
                <a:solidFill>
                  <a:srgbClr val="3EC6B6"/>
                </a:solidFill>
                <a:latin typeface="Segoe UI"/>
              </a:rPr>
              <a:t>HEALTHCARE  •  DIGITAL RECORDS PLATFORM</a:t>
            </a:r>
          </a:p>
        </p:txBody>
      </p:sp>
      <p:sp>
        <p:nvSpPr>
          <p:cNvPr id="9" name="t9"/>
          <p:cNvSpPr txBox="1"/>
          <p:nvPr/>
        </p:nvSpPr>
        <p:spPr>
          <a:xfrm>
            <a:off x="731520" y="2331720"/>
            <a:ext cx="676656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Segoe UI"/>
              </a:rPr>
              <a:t>EMR System &amp;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lang="en-US" sz="4400" b="1">
                <a:solidFill>
                  <a:srgbClr val="FFFFFF"/>
                </a:solidFill>
                <a:latin typeface="Segoe UI"/>
              </a:rPr>
              <a:t>MyHealth Portal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731520" y="42976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0">
                <a:solidFill>
                  <a:srgbClr val="C8DDE8"/>
                </a:solidFill>
                <a:latin typeface="Segoe UI"/>
              </a:rPr>
              <a:t>Digitizing the full clinic care loop — from registration to billing.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731520" y="58978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Built on Nuxt 4  •  Vue 3  •  PostgreSQL  •  Prisma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THE PROBLEM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Clinics are still stuck on paper and phone calls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0">
                <a:solidFill>
                  <a:srgbClr val="5B6B73"/>
                </a:solidFill>
                <a:latin typeface="Segoe UI"/>
              </a:rPr>
              <a:t>Manual, fragmented operations slow down care and create costly errors.</a:t>
            </a:r>
          </a:p>
        </p:txBody>
      </p:sp>
      <p:sp>
        <p:nvSpPr>
          <p:cNvPr id="7" name="r7"/>
          <p:cNvSpPr/>
          <p:nvPr/>
        </p:nvSpPr>
        <p:spPr>
          <a:xfrm>
            <a:off x="548640" y="2240280"/>
            <a:ext cx="502920" cy="77724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548640" y="224028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1">
                <a:solidFill>
                  <a:srgbClr val="129E9E"/>
                </a:solidFill>
                <a:latin typeface="Segoe UI"/>
              </a:rPr>
              <a:t>1</a:t>
            </a:r>
          </a:p>
        </p:txBody>
      </p:sp>
      <p:sp>
        <p:nvSpPr>
          <p:cNvPr id="9" name="t9"/>
          <p:cNvSpPr txBox="1"/>
          <p:nvPr/>
        </p:nvSpPr>
        <p:spPr>
          <a:xfrm>
            <a:off x="1234440" y="224028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Paper-based records</a:t>
            </a:r>
            <a:r>
              <a:rPr lang="en-US" sz="1500" b="0">
                <a:solidFill>
                  <a:srgbClr val="5B6B73"/>
                </a:solidFill>
                <a:latin typeface="Segoe UI"/>
              </a:rPr>
              <a:t> are easy to lose, hard to search, and impossible to audit.</a:t>
            </a:r>
          </a:p>
        </p:txBody>
      </p:sp>
      <p:sp>
        <p:nvSpPr>
          <p:cNvPr id="10" name="r10"/>
          <p:cNvSpPr/>
          <p:nvPr/>
        </p:nvSpPr>
        <p:spPr>
          <a:xfrm>
            <a:off x="548640" y="3200400"/>
            <a:ext cx="502920" cy="77724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548640" y="320040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1">
                <a:solidFill>
                  <a:srgbClr val="129E9E"/>
                </a:solidFill>
                <a:latin typeface="Segoe UI"/>
              </a:rPr>
              <a:t>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234440" y="320040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Manual billing</a:t>
            </a:r>
            <a:r>
              <a:rPr lang="en-US" sz="1500" b="0">
                <a:solidFill>
                  <a:srgbClr val="5B6B73"/>
                </a:solidFill>
                <a:latin typeface="Segoe UI"/>
              </a:rPr>
              <a:t> leads to disputes, lost revenue, and slow collections.</a:t>
            </a:r>
          </a:p>
        </p:txBody>
      </p:sp>
      <p:sp>
        <p:nvSpPr>
          <p:cNvPr id="13" name="r13"/>
          <p:cNvSpPr/>
          <p:nvPr/>
        </p:nvSpPr>
        <p:spPr>
          <a:xfrm>
            <a:off x="548640" y="4160520"/>
            <a:ext cx="502920" cy="77724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14"/>
          <p:cNvSpPr txBox="1"/>
          <p:nvPr/>
        </p:nvSpPr>
        <p:spPr>
          <a:xfrm>
            <a:off x="548640" y="416052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1">
                <a:solidFill>
                  <a:srgbClr val="129E9E"/>
                </a:solidFill>
                <a:latin typeface="Segoe UI"/>
              </a:rPr>
              <a:t>3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234440" y="416052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Phone-based communication</a:t>
            </a:r>
            <a:r>
              <a:rPr lang="en-US" sz="1500" b="0">
                <a:solidFill>
                  <a:srgbClr val="5B6B73"/>
                </a:solidFill>
                <a:latin typeface="Segoe UI"/>
              </a:rPr>
              <a:t> between staff and patients wastes hours every day.</a:t>
            </a:r>
          </a:p>
        </p:txBody>
      </p:sp>
      <p:sp>
        <p:nvSpPr>
          <p:cNvPr id="16" name="r16"/>
          <p:cNvSpPr/>
          <p:nvPr/>
        </p:nvSpPr>
        <p:spPr>
          <a:xfrm>
            <a:off x="548640" y="5120640"/>
            <a:ext cx="502920" cy="77724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548640" y="5120640"/>
            <a:ext cx="5029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200" b="1">
                <a:solidFill>
                  <a:srgbClr val="129E9E"/>
                </a:solidFill>
                <a:latin typeface="Segoe UI"/>
              </a:rPr>
              <a:t>4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234440" y="51206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No real-time visibility</a:t>
            </a:r>
            <a:r>
              <a:rPr lang="en-US" sz="1500" b="0">
                <a:solidFill>
                  <a:srgbClr val="5B6B73"/>
                </a:solidFill>
                <a:latin typeface="Segoe UI"/>
              </a:rPr>
              <a:t> into appointments, lab results, or inventory.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THE SOLUTION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One platform. Two portals. Complete care loop.</a:t>
            </a:r>
          </a:p>
        </p:txBody>
      </p:sp>
      <p:sp>
        <p:nvSpPr>
          <p:cNvPr id="6" name="t6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0">
                <a:solidFill>
                  <a:srgbClr val="5B6B73"/>
                </a:solidFill>
                <a:latin typeface="Segoe UI"/>
              </a:rPr>
              <a:t>A unified Electronic Medical Records platform with dedicated experiences for staff and patients, sharing one secure database.</a:t>
            </a:r>
          </a:p>
        </p:txBody>
      </p:sp>
      <p:sp>
        <p:nvSpPr>
          <p:cNvPr id="7" name="r7"/>
          <p:cNvSpPr/>
          <p:nvPr/>
        </p:nvSpPr>
        <p:spPr>
          <a:xfrm>
            <a:off x="548640" y="2423160"/>
            <a:ext cx="5394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8" name="r8"/>
          <p:cNvSpPr/>
          <p:nvPr/>
        </p:nvSpPr>
        <p:spPr>
          <a:xfrm>
            <a:off x="548640" y="2423160"/>
            <a:ext cx="109728" cy="352044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841248" y="256946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1">
                <a:solidFill>
                  <a:srgbClr val="0B2A4A"/>
                </a:solidFill>
                <a:latin typeface="Segoe UI"/>
              </a:rPr>
              <a:t>EMR System  —  for Staff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841248" y="3026664"/>
            <a:ext cx="4892040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Operations dashboard with live KPIs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Registration, appointments &amp; dispositions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Lab uploads, billing &amp; refill approvals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Inventory, analytics &amp; audit history</a:t>
            </a:r>
          </a:p>
        </p:txBody>
      </p:sp>
      <p:sp>
        <p:nvSpPr>
          <p:cNvPr id="11" name="r11"/>
          <p:cNvSpPr/>
          <p:nvPr/>
        </p:nvSpPr>
        <p:spPr>
          <a:xfrm>
            <a:off x="6263640" y="2423160"/>
            <a:ext cx="5394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2" name="r12"/>
          <p:cNvSpPr/>
          <p:nvPr/>
        </p:nvSpPr>
        <p:spPr>
          <a:xfrm>
            <a:off x="6263640" y="2423160"/>
            <a:ext cx="109728" cy="35204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6556248" y="256946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1">
                <a:solidFill>
                  <a:srgbClr val="0B2A4A"/>
                </a:solidFill>
                <a:latin typeface="Segoe UI"/>
              </a:rPr>
              <a:t>MyHealth Portal  —  for Patients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56248" y="3026664"/>
            <a:ext cx="4892040" cy="27889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Personal health dashboard &amp; vitals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Book appointments &amp; view lab results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Pay bills with payment-proof upload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Request medication refills &amp; alerts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MARKET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Who it's for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9202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FFFFFF"/>
                </a:solidFill>
                <a:latin typeface="Segoe UI"/>
              </a:rPr>
              <a:t>Small &amp; mid-size clinics</a:t>
            </a:r>
          </a:p>
        </p:txBody>
      </p:sp>
      <p:sp>
        <p:nvSpPr>
          <p:cNvPr id="9" name="t9"/>
          <p:cNvSpPr txBox="1"/>
          <p:nvPr/>
        </p:nvSpPr>
        <p:spPr>
          <a:xfrm>
            <a:off x="822960" y="297180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00" b="0">
                <a:solidFill>
                  <a:srgbClr val="5B6B73"/>
                </a:solidFill>
                <a:latin typeface="Segoe UI"/>
              </a:rPr>
              <a:t>Replace paper charts with a modern, affordable system.</a:t>
            </a:r>
          </a:p>
        </p:txBody>
      </p:sp>
      <p:sp>
        <p:nvSpPr>
          <p:cNvPr id="10" name="r10"/>
          <p:cNvSpPr/>
          <p:nvPr/>
        </p:nvSpPr>
        <p:spPr>
          <a:xfrm>
            <a:off x="4315968" y="19202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4315968" y="1920240"/>
            <a:ext cx="3520440" cy="82296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315968" y="192024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FFFFFF"/>
                </a:solidFill>
                <a:latin typeface="Segoe UI"/>
              </a:rPr>
              <a:t>Outpatient facilities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590288" y="297180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00" b="0">
                <a:solidFill>
                  <a:srgbClr val="5B6B73"/>
                </a:solidFill>
                <a:latin typeface="Segoe UI"/>
              </a:rPr>
              <a:t>Streamline registration, scheduling, and billing.</a:t>
            </a:r>
          </a:p>
        </p:txBody>
      </p:sp>
      <p:sp>
        <p:nvSpPr>
          <p:cNvPr id="14" name="r14"/>
          <p:cNvSpPr/>
          <p:nvPr/>
        </p:nvSpPr>
        <p:spPr>
          <a:xfrm>
            <a:off x="8083296" y="19202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8083296" y="1920240"/>
            <a:ext cx="3520440" cy="82296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8083296" y="192024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FFFFFF"/>
                </a:solidFill>
                <a:latin typeface="Segoe UI"/>
              </a:rPr>
              <a:t>Hospital departments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357616" y="297180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00" b="0">
                <a:solidFill>
                  <a:srgbClr val="5B6B73"/>
                </a:solidFill>
                <a:latin typeface="Segoe UI"/>
              </a:rPr>
              <a:t>Coordinate labs, dispositions, and inventory in one place.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548640" y="54406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00" b="1">
                <a:solidFill>
                  <a:srgbClr val="0B2A4A"/>
                </a:solidFill>
                <a:latin typeface="Segoe UI"/>
              </a:rPr>
              <a:t>Localized for the Philippine market — currency, workflows, and ID formats (MRN / Staff #) built in.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ARCHITECTURE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6" name="r6"/>
          <p:cNvSpPr/>
          <p:nvPr/>
        </p:nvSpPr>
        <p:spPr>
          <a:xfrm>
            <a:off x="822960" y="1874520"/>
            <a:ext cx="2926080" cy="82296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822960" y="18745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8" name="t8"/>
          <p:cNvSpPr txBox="1"/>
          <p:nvPr/>
        </p:nvSpPr>
        <p:spPr>
          <a:xfrm>
            <a:off x="4023360" y="187452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0">
                <a:solidFill>
                  <a:srgbClr val="5B6B73"/>
                </a:solidFill>
                <a:latin typeface="Segoe UI"/>
              </a:rPr>
              <a:t>Nuxt 4 + Vue 3, role-based dual-portal UI</a:t>
            </a:r>
          </a:p>
        </p:txBody>
      </p:sp>
      <p:sp>
        <p:nvSpPr>
          <p:cNvPr id="9" name="r9"/>
          <p:cNvSpPr/>
          <p:nvPr/>
        </p:nvSpPr>
        <p:spPr>
          <a:xfrm>
            <a:off x="2148840" y="2697480"/>
            <a:ext cx="91440" cy="201168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10"/>
          <p:cNvSpPr/>
          <p:nvPr/>
        </p:nvSpPr>
        <p:spPr>
          <a:xfrm>
            <a:off x="822960" y="2898648"/>
            <a:ext cx="2926080" cy="822960"/>
          </a:xfrm>
          <a:prstGeom prst="rect">
            <a:avLst/>
          </a:prstGeom>
          <a:solidFill>
            <a:srgbClr val="0E7C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822960" y="2898648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Server API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023360" y="2898648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0">
                <a:solidFill>
                  <a:srgbClr val="5B6B73"/>
                </a:solidFill>
                <a:latin typeface="Segoe UI"/>
              </a:rPr>
              <a:t>Nitro server routes handle auth &amp; business logic</a:t>
            </a:r>
          </a:p>
        </p:txBody>
      </p:sp>
      <p:sp>
        <p:nvSpPr>
          <p:cNvPr id="13" name="r13"/>
          <p:cNvSpPr/>
          <p:nvPr/>
        </p:nvSpPr>
        <p:spPr>
          <a:xfrm>
            <a:off x="2148840" y="3721608"/>
            <a:ext cx="91440" cy="201168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14"/>
          <p:cNvSpPr/>
          <p:nvPr/>
        </p:nvSpPr>
        <p:spPr>
          <a:xfrm>
            <a:off x="822960" y="3922776"/>
            <a:ext cx="2926080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22960" y="3922776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ORM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4023360" y="3922776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0">
                <a:solidFill>
                  <a:srgbClr val="5B6B73"/>
                </a:solidFill>
                <a:latin typeface="Segoe UI"/>
              </a:rPr>
              <a:t>Prisma 6 maps clean, type-safe data models</a:t>
            </a:r>
          </a:p>
        </p:txBody>
      </p:sp>
      <p:sp>
        <p:nvSpPr>
          <p:cNvPr id="17" name="r17"/>
          <p:cNvSpPr/>
          <p:nvPr/>
        </p:nvSpPr>
        <p:spPr>
          <a:xfrm>
            <a:off x="2148840" y="4745736"/>
            <a:ext cx="91440" cy="201168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18"/>
          <p:cNvSpPr/>
          <p:nvPr/>
        </p:nvSpPr>
        <p:spPr>
          <a:xfrm>
            <a:off x="822960" y="4946904"/>
            <a:ext cx="2926080" cy="822960"/>
          </a:xfrm>
          <a:prstGeom prst="rect">
            <a:avLst/>
          </a:prstGeom>
          <a:solidFill>
            <a:srgbClr val="1B2B3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822960" y="4946904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7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4023360" y="4946904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0">
                <a:solidFill>
                  <a:srgbClr val="5B6B73"/>
                </a:solidFill>
                <a:latin typeface="Segoe UI"/>
              </a:rPr>
              <a:t>PostgreSQL stores patients, records &amp; audit logs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FEATURES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EMR System — staff capabilities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691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548640" y="169164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777240" y="183794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Dashboard KPIs</a:t>
            </a:r>
          </a:p>
        </p:txBody>
      </p:sp>
      <p:sp>
        <p:nvSpPr>
          <p:cNvPr id="9" name="t9"/>
          <p:cNvSpPr txBox="1"/>
          <p:nvPr/>
        </p:nvSpPr>
        <p:spPr>
          <a:xfrm>
            <a:off x="777240" y="227685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patients, appointments, pending labs, unpaid invoices</a:t>
            </a:r>
          </a:p>
        </p:txBody>
      </p:sp>
      <p:sp>
        <p:nvSpPr>
          <p:cNvPr id="10" name="r10"/>
          <p:cNvSpPr/>
          <p:nvPr/>
        </p:nvSpPr>
        <p:spPr>
          <a:xfrm>
            <a:off x="4389120" y="1691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4389120" y="169164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4617720" y="183794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Patient registration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617720" y="227685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auto-generated MRN &amp; full clinical profiles</a:t>
            </a:r>
          </a:p>
        </p:txBody>
      </p:sp>
      <p:sp>
        <p:nvSpPr>
          <p:cNvPr id="14" name="r14"/>
          <p:cNvSpPr/>
          <p:nvPr/>
        </p:nvSpPr>
        <p:spPr>
          <a:xfrm>
            <a:off x="8229600" y="169164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8229600" y="169164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8458200" y="183794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Appointments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458200" y="227685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schedule and assign to doctors / staff</a:t>
            </a:r>
          </a:p>
        </p:txBody>
      </p:sp>
      <p:sp>
        <p:nvSpPr>
          <p:cNvPr id="18" name="r18"/>
          <p:cNvSpPr/>
          <p:nvPr/>
        </p:nvSpPr>
        <p:spPr>
          <a:xfrm>
            <a:off x="548640" y="31546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548640" y="315468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777240" y="330098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Lab results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777240" y="373989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upload, interpret, and track status</a:t>
            </a:r>
          </a:p>
        </p:txBody>
      </p:sp>
      <p:sp>
        <p:nvSpPr>
          <p:cNvPr id="22" name="r22"/>
          <p:cNvSpPr/>
          <p:nvPr/>
        </p:nvSpPr>
        <p:spPr>
          <a:xfrm>
            <a:off x="4389120" y="31546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4389120" y="315468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4617720" y="330098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Billing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617720" y="373989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itemized invoices with payment-proof review</a:t>
            </a:r>
          </a:p>
        </p:txBody>
      </p:sp>
      <p:sp>
        <p:nvSpPr>
          <p:cNvPr id="26" name="r26"/>
          <p:cNvSpPr/>
          <p:nvPr/>
        </p:nvSpPr>
        <p:spPr>
          <a:xfrm>
            <a:off x="8229600" y="315468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27" name="r27"/>
          <p:cNvSpPr/>
          <p:nvPr/>
        </p:nvSpPr>
        <p:spPr>
          <a:xfrm>
            <a:off x="8229600" y="315468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28"/>
          <p:cNvSpPr txBox="1"/>
          <p:nvPr/>
        </p:nvSpPr>
        <p:spPr>
          <a:xfrm>
            <a:off x="8458200" y="330098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Pharmacy refills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8458200" y="373989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review and approve patient requests</a:t>
            </a:r>
          </a:p>
        </p:txBody>
      </p:sp>
      <p:sp>
        <p:nvSpPr>
          <p:cNvPr id="30" name="r30"/>
          <p:cNvSpPr/>
          <p:nvPr/>
        </p:nvSpPr>
        <p:spPr>
          <a:xfrm>
            <a:off x="548640" y="46177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548640" y="461772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777240" y="476402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Dispositions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777240" y="520293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record clinical outcomes &amp; discharge</a:t>
            </a:r>
          </a:p>
        </p:txBody>
      </p:sp>
      <p:sp>
        <p:nvSpPr>
          <p:cNvPr id="34" name="r34"/>
          <p:cNvSpPr/>
          <p:nvPr/>
        </p:nvSpPr>
        <p:spPr>
          <a:xfrm>
            <a:off x="4389120" y="46177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35" name="r35"/>
          <p:cNvSpPr/>
          <p:nvPr/>
        </p:nvSpPr>
        <p:spPr>
          <a:xfrm>
            <a:off x="4389120" y="461772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36"/>
          <p:cNvSpPr txBox="1"/>
          <p:nvPr/>
        </p:nvSpPr>
        <p:spPr>
          <a:xfrm>
            <a:off x="4617720" y="476402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Inventory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4617720" y="520293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track medical supplies and pricing</a:t>
            </a:r>
          </a:p>
        </p:txBody>
      </p:sp>
      <p:sp>
        <p:nvSpPr>
          <p:cNvPr id="38" name="r38"/>
          <p:cNvSpPr/>
          <p:nvPr/>
        </p:nvSpPr>
        <p:spPr>
          <a:xfrm>
            <a:off x="8229600" y="4617720"/>
            <a:ext cx="3611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39" name="r39"/>
          <p:cNvSpPr/>
          <p:nvPr/>
        </p:nvSpPr>
        <p:spPr>
          <a:xfrm>
            <a:off x="8229600" y="4617720"/>
            <a:ext cx="3611880" cy="7315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40"/>
          <p:cNvSpPr txBox="1"/>
          <p:nvPr/>
        </p:nvSpPr>
        <p:spPr>
          <a:xfrm>
            <a:off x="8458200" y="4764024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Analytics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8458200" y="5202936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revenue and operational metrics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FEATURES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MyHealth Portal — patient self-service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69164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548640" y="1691640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822960" y="18013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Health dashboard</a:t>
            </a:r>
          </a:p>
        </p:txBody>
      </p:sp>
      <p:sp>
        <p:nvSpPr>
          <p:cNvPr id="9" name="t9"/>
          <p:cNvSpPr txBox="1"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vitals snapshot &amp; next appointment</a:t>
            </a:r>
          </a:p>
        </p:txBody>
      </p:sp>
      <p:sp>
        <p:nvSpPr>
          <p:cNvPr id="10" name="r10"/>
          <p:cNvSpPr/>
          <p:nvPr/>
        </p:nvSpPr>
        <p:spPr>
          <a:xfrm>
            <a:off x="6263640" y="169164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6263640" y="1691640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6537960" y="1801368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Appointments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537960" y="2194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book and manage visits online</a:t>
            </a:r>
          </a:p>
        </p:txBody>
      </p:sp>
      <p:sp>
        <p:nvSpPr>
          <p:cNvPr id="14" name="r14"/>
          <p:cNvSpPr/>
          <p:nvPr/>
        </p:nvSpPr>
        <p:spPr>
          <a:xfrm>
            <a:off x="548640" y="2898648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5" name="r15"/>
          <p:cNvSpPr/>
          <p:nvPr/>
        </p:nvSpPr>
        <p:spPr>
          <a:xfrm>
            <a:off x="548640" y="2898648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822960" y="300837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Lab results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22960" y="340156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secure access to health records</a:t>
            </a:r>
          </a:p>
        </p:txBody>
      </p:sp>
      <p:sp>
        <p:nvSpPr>
          <p:cNvPr id="18" name="r18"/>
          <p:cNvSpPr/>
          <p:nvPr/>
        </p:nvSpPr>
        <p:spPr>
          <a:xfrm>
            <a:off x="6263640" y="2898648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9" name="r19"/>
          <p:cNvSpPr/>
          <p:nvPr/>
        </p:nvSpPr>
        <p:spPr>
          <a:xfrm>
            <a:off x="6263640" y="2898648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6537960" y="3008376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Billing &amp; payments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537960" y="340156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view invoices, submit payment proof</a:t>
            </a:r>
          </a:p>
        </p:txBody>
      </p:sp>
      <p:sp>
        <p:nvSpPr>
          <p:cNvPr id="22" name="r22"/>
          <p:cNvSpPr/>
          <p:nvPr/>
        </p:nvSpPr>
        <p:spPr>
          <a:xfrm>
            <a:off x="548640" y="4105656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548640" y="4105656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t24"/>
          <p:cNvSpPr txBox="1"/>
          <p:nvPr/>
        </p:nvSpPr>
        <p:spPr>
          <a:xfrm>
            <a:off x="822960" y="421538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Medication refills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822960" y="4608576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request refills in a few taps</a:t>
            </a:r>
          </a:p>
        </p:txBody>
      </p:sp>
      <p:sp>
        <p:nvSpPr>
          <p:cNvPr id="26" name="r26"/>
          <p:cNvSpPr/>
          <p:nvPr/>
        </p:nvSpPr>
        <p:spPr>
          <a:xfrm>
            <a:off x="6263640" y="4105656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27" name="r27"/>
          <p:cNvSpPr/>
          <p:nvPr/>
        </p:nvSpPr>
        <p:spPr>
          <a:xfrm>
            <a:off x="6263640" y="4105656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28"/>
          <p:cNvSpPr txBox="1"/>
          <p:nvPr/>
        </p:nvSpPr>
        <p:spPr>
          <a:xfrm>
            <a:off x="6537960" y="4215384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Profile management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6537960" y="4608576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allergies, emergency contact, insurance</a:t>
            </a:r>
          </a:p>
        </p:txBody>
      </p:sp>
      <p:sp>
        <p:nvSpPr>
          <p:cNvPr id="30" name="r30"/>
          <p:cNvSpPr/>
          <p:nvPr/>
        </p:nvSpPr>
        <p:spPr>
          <a:xfrm>
            <a:off x="548640" y="5312664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548640" y="5312664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822960" y="542239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Notifications</a:t>
            </a:r>
          </a:p>
        </p:txBody>
      </p:sp>
      <p:sp>
        <p:nvSpPr>
          <p:cNvPr id="33" name="t33"/>
          <p:cNvSpPr txBox="1"/>
          <p:nvPr/>
        </p:nvSpPr>
        <p:spPr>
          <a:xfrm>
            <a:off x="822960" y="5815584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real-time alerts via notification bell</a:t>
            </a:r>
          </a:p>
        </p:txBody>
      </p:sp>
      <p:sp>
        <p:nvSpPr>
          <p:cNvPr id="34" name="r34"/>
          <p:cNvSpPr/>
          <p:nvPr/>
        </p:nvSpPr>
        <p:spPr>
          <a:xfrm>
            <a:off x="6263640" y="5312664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35" name="r35"/>
          <p:cNvSpPr/>
          <p:nvPr/>
        </p:nvSpPr>
        <p:spPr>
          <a:xfrm>
            <a:off x="6263640" y="5312664"/>
            <a:ext cx="91440" cy="100584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36"/>
          <p:cNvSpPr txBox="1"/>
          <p:nvPr/>
        </p:nvSpPr>
        <p:spPr>
          <a:xfrm>
            <a:off x="6537960" y="542239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450" b="1">
                <a:solidFill>
                  <a:srgbClr val="0B2A4A"/>
                </a:solidFill>
                <a:latin typeface="Segoe UI"/>
              </a:rPr>
              <a:t>E-Record download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6537960" y="5815584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50" b="0">
                <a:solidFill>
                  <a:srgbClr val="5B6B73"/>
                </a:solidFill>
                <a:latin typeface="Segoe UI"/>
              </a:rPr>
              <a:t>export personal medical record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39" name="t3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WHY US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What sets it apart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69164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822960" y="18562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Dual-portal design</a:t>
            </a:r>
          </a:p>
        </p:txBody>
      </p:sp>
      <p:sp>
        <p:nvSpPr>
          <p:cNvPr id="8" name="t8"/>
          <p:cNvSpPr txBox="1"/>
          <p:nvPr/>
        </p:nvSpPr>
        <p:spPr>
          <a:xfrm>
            <a:off x="822960" y="231343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Purpose-built UX for staff and patients on one shared system.</a:t>
            </a:r>
          </a:p>
        </p:txBody>
      </p:sp>
      <p:sp>
        <p:nvSpPr>
          <p:cNvPr id="9" name="r9"/>
          <p:cNvSpPr/>
          <p:nvPr/>
        </p:nvSpPr>
        <p:spPr>
          <a:xfrm>
            <a:off x="6263640" y="169164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6537960" y="18562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MRN / Staff ID system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537960" y="231343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Auto-generated sequential identifiers (MRN-YYYY-######).</a:t>
            </a:r>
          </a:p>
        </p:txBody>
      </p:sp>
      <p:sp>
        <p:nvSpPr>
          <p:cNvPr id="12" name="r12"/>
          <p:cNvSpPr/>
          <p:nvPr/>
        </p:nvSpPr>
        <p:spPr>
          <a:xfrm>
            <a:off x="548640" y="320040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822960" y="33649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Payment-proof workflow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22960" y="38221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Patients upload proof; admins review and approve.</a:t>
            </a:r>
          </a:p>
        </p:txBody>
      </p:sp>
      <p:sp>
        <p:nvSpPr>
          <p:cNvPr id="15" name="r15"/>
          <p:cNvSpPr/>
          <p:nvPr/>
        </p:nvSpPr>
        <p:spPr>
          <a:xfrm>
            <a:off x="6263640" y="320040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6537960" y="336499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Audit-driven notifications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537960" y="38221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Every key action is logged and surfaced as an alert.</a:t>
            </a:r>
          </a:p>
        </p:txBody>
      </p:sp>
      <p:sp>
        <p:nvSpPr>
          <p:cNvPr id="18" name="r18"/>
          <p:cNvSpPr/>
          <p:nvPr/>
        </p:nvSpPr>
        <p:spPr>
          <a:xfrm>
            <a:off x="548640" y="470916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822960" y="487375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Operational analytics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822960" y="533095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Revenue and activity metrics out of the box.</a:t>
            </a:r>
          </a:p>
        </p:txBody>
      </p:sp>
      <p:sp>
        <p:nvSpPr>
          <p:cNvPr id="21" name="r21"/>
          <p:cNvSpPr/>
          <p:nvPr/>
        </p:nvSpPr>
        <p:spPr>
          <a:xfrm>
            <a:off x="6263640" y="4709160"/>
            <a:ext cx="5486400" cy="1325880"/>
          </a:xfrm>
          <a:prstGeom prst="rect">
            <a:avLst/>
          </a:prstGeom>
          <a:solidFill>
            <a:srgbClr val="F2F7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6537960" y="487375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E7C7C"/>
                </a:solidFill>
                <a:latin typeface="Segoe UI"/>
              </a:rPr>
              <a:t>✓  Modern full-stack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537960" y="533095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300" b="0">
                <a:solidFill>
                  <a:srgbClr val="5B6B73"/>
                </a:solidFill>
                <a:latin typeface="Segoe UI"/>
              </a:rPr>
              <a:t>Fast, maintainable Nuxt + PostgreSQL foundation.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DEMO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A guided walkthrough</a:t>
            </a:r>
          </a:p>
        </p:txBody>
      </p:sp>
      <p:sp>
        <p:nvSpPr>
          <p:cNvPr id="6" name="r6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8"/>
          <p:cNvSpPr txBox="1"/>
          <p:nvPr/>
        </p:nvSpPr>
        <p:spPr>
          <a:xfrm>
            <a:off x="1508760" y="1783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Login  —  </a:t>
            </a:r>
            <a:r>
              <a:rPr lang="en-US" sz="1400" b="0">
                <a:solidFill>
                  <a:srgbClr val="5B6B73"/>
                </a:solidFill>
                <a:latin typeface="Segoe UI"/>
              </a:rPr>
              <a:t>Role toggle: staff sign in with Staff #, patients with MRN.</a:t>
            </a:r>
          </a:p>
        </p:txBody>
      </p:sp>
      <p:sp>
        <p:nvSpPr>
          <p:cNvPr id="9" name="r9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640080" y="2651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508760" y="26517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Staff dashboard  —  </a:t>
            </a:r>
            <a:r>
              <a:rPr lang="en-US" sz="1400" b="0">
                <a:solidFill>
                  <a:srgbClr val="5B6B73"/>
                </a:solidFill>
                <a:latin typeface="Segoe UI"/>
              </a:rPr>
              <a:t>Live KPIs, recent labs, and quick actions.</a:t>
            </a:r>
          </a:p>
        </p:txBody>
      </p:sp>
      <p:sp>
        <p:nvSpPr>
          <p:cNvPr id="12" name="r12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640080" y="3520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508760" y="35204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Register a patient  —  </a:t>
            </a:r>
            <a:r>
              <a:rPr lang="en-US" sz="1400" b="0">
                <a:solidFill>
                  <a:srgbClr val="5B6B73"/>
                </a:solidFill>
                <a:latin typeface="Segoe UI"/>
              </a:rPr>
              <a:t>Auto-assigned MRN and clinical profile.</a:t>
            </a:r>
          </a:p>
        </p:txBody>
      </p:sp>
      <p:sp>
        <p:nvSpPr>
          <p:cNvPr id="15" name="r15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508760" y="43891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Patient portal  —  </a:t>
            </a:r>
            <a:r>
              <a:rPr lang="en-US" sz="1400" b="0">
                <a:solidFill>
                  <a:srgbClr val="5B6B73"/>
                </a:solidFill>
                <a:latin typeface="Segoe UI"/>
              </a:rPr>
              <a:t>Patient books an appointment &amp; views lab results.</a:t>
            </a:r>
          </a:p>
        </p:txBody>
      </p:sp>
      <p:sp>
        <p:nvSpPr>
          <p:cNvPr id="18" name="r18"/>
          <p:cNvSpPr/>
          <p:nvPr/>
        </p:nvSpPr>
        <p:spPr>
          <a:xfrm>
            <a:off x="640080" y="5257800"/>
            <a:ext cx="640080" cy="640080"/>
          </a:xfrm>
          <a:prstGeom prst="ellipse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640080" y="5257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1508760" y="52578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600" b="1">
                <a:solidFill>
                  <a:srgbClr val="0B2A4A"/>
                </a:solidFill>
                <a:latin typeface="Segoe UI"/>
              </a:rPr>
              <a:t>Billing loop  —  </a:t>
            </a:r>
            <a:r>
              <a:rPr lang="en-US" sz="1400" b="0">
                <a:solidFill>
                  <a:srgbClr val="5B6B73"/>
                </a:solidFill>
                <a:latin typeface="Segoe UI"/>
              </a:rPr>
              <a:t>Patient submits payment proof; admin approves.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100" b="0">
                <a:solidFill>
                  <a:srgbClr val="5B6B73"/>
                </a:solidFill>
                <a:latin typeface="Segoe UI"/>
              </a:rPr>
              <a:t>Tip: replace this slide with live screenshots of your app (localhost:3000).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TRUST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Technology &amp; security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691640"/>
            <a:ext cx="5394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7" name="r7"/>
          <p:cNvSpPr/>
          <p:nvPr/>
        </p:nvSpPr>
        <p:spPr>
          <a:xfrm>
            <a:off x="548640" y="1691640"/>
            <a:ext cx="109728" cy="406908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841248" y="183794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1">
                <a:solidFill>
                  <a:srgbClr val="0B2A4A"/>
                </a:solidFill>
                <a:latin typeface="Segoe UI"/>
              </a:rPr>
              <a:t>Tech stack</a:t>
            </a:r>
          </a:p>
        </p:txBody>
      </p:sp>
      <p:sp>
        <p:nvSpPr>
          <p:cNvPr id="9" name="t9"/>
          <p:cNvSpPr txBox="1"/>
          <p:nvPr/>
        </p:nvSpPr>
        <p:spPr>
          <a:xfrm>
            <a:off x="841248" y="2295144"/>
            <a:ext cx="48920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Nuxt 4 + Vue 3 + Vue Router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Nitro server API routes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PostgreSQL database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Prisma 6 ORM (type-safe models)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Icons via Lucide &amp; MDI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TypeScript throughout</a:t>
            </a:r>
          </a:p>
        </p:txBody>
      </p:sp>
      <p:sp>
        <p:nvSpPr>
          <p:cNvPr id="10" name="r10"/>
          <p:cNvSpPr/>
          <p:nvPr/>
        </p:nvSpPr>
        <p:spPr>
          <a:xfrm>
            <a:off x="6263640" y="1691640"/>
            <a:ext cx="53949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1" name="r11"/>
          <p:cNvSpPr/>
          <p:nvPr/>
        </p:nvSpPr>
        <p:spPr>
          <a:xfrm>
            <a:off x="6263640" y="1691640"/>
            <a:ext cx="109728" cy="4069080"/>
          </a:xfrm>
          <a:prstGeom prst="rect">
            <a:avLst/>
          </a:prstGeom>
          <a:solidFill>
            <a:srgbClr val="3EC6B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6556248" y="1837944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500" b="1">
                <a:solidFill>
                  <a:srgbClr val="0B2A4A"/>
                </a:solidFill>
                <a:latin typeface="Segoe UI"/>
              </a:rPr>
              <a:t>Security &amp; integrity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556248" y="2295144"/>
            <a:ext cx="4892040" cy="33375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bcrypt password hashing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Role-based route protection (5 roles)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MRN / Staff # identity validation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Full audit log of key actions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Separated patient vs staff access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US" sz="85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250" b="0">
                <a:solidFill>
                  <a:srgbClr val="1B2B34"/>
                </a:solidFill>
                <a:latin typeface="Segoe UI"/>
              </a:rPr>
              <a:t>Roadmap: JWT / session hardening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3EC6B6"/>
                </a:solidFill>
                <a:latin typeface="Segoe UI"/>
              </a:rPr>
              <a:t>ROADMAP</a:t>
            </a:r>
          </a:p>
        </p:txBody>
      </p:sp>
      <p:sp>
        <p:nvSpPr>
          <p:cNvPr id="5" name="t5"/>
          <p:cNvSpPr txBox="1"/>
          <p:nvPr/>
        </p:nvSpPr>
        <p:spPr>
          <a:xfrm>
            <a:off x="548640" y="475488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600" b="1">
                <a:solidFill>
                  <a:srgbClr val="FFFFFF"/>
                </a:solidFill>
                <a:latin typeface="Segoe UI"/>
              </a:rPr>
              <a:t>Where we're going</a:t>
            </a:r>
          </a:p>
        </p:txBody>
      </p:sp>
      <p:sp>
        <p:nvSpPr>
          <p:cNvPr id="6" name="r6"/>
          <p:cNvSpPr/>
          <p:nvPr/>
        </p:nvSpPr>
        <p:spPr>
          <a:xfrm>
            <a:off x="548640" y="1828800"/>
            <a:ext cx="3520440" cy="777240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548640" y="18288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800" b="1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8" name="r8"/>
          <p:cNvSpPr/>
          <p:nvPr/>
        </p:nvSpPr>
        <p:spPr>
          <a:xfrm>
            <a:off x="548640" y="26060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868680" y="288036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Dual portals live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Billing &amp; refills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129E9E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Analytics &amp; audit</a:t>
            </a:r>
          </a:p>
        </p:txBody>
      </p:sp>
      <p:sp>
        <p:nvSpPr>
          <p:cNvPr id="10" name="r10"/>
          <p:cNvSpPr/>
          <p:nvPr/>
        </p:nvSpPr>
        <p:spPr>
          <a:xfrm>
            <a:off x="4315968" y="1828800"/>
            <a:ext cx="3520440" cy="777240"/>
          </a:xfrm>
          <a:prstGeom prst="rect">
            <a:avLst/>
          </a:prstGeom>
          <a:solidFill>
            <a:srgbClr val="0E7C7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4315968" y="18288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800" b="1">
                <a:solidFill>
                  <a:srgbClr val="FFFFFF"/>
                </a:solidFill>
                <a:latin typeface="Segoe UI"/>
              </a:rPr>
              <a:t>Next</a:t>
            </a:r>
          </a:p>
        </p:txBody>
      </p:sp>
      <p:sp>
        <p:nvSpPr>
          <p:cNvPr id="12" name="r12"/>
          <p:cNvSpPr/>
          <p:nvPr/>
        </p:nvSpPr>
        <p:spPr>
          <a:xfrm>
            <a:off x="4315968" y="26060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4636008" y="288036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E7C7C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Session / JWT hardening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E7C7C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Role-based dashboards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E7C7C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Email / SMS alerts</a:t>
            </a:r>
          </a:p>
        </p:txBody>
      </p:sp>
      <p:sp>
        <p:nvSpPr>
          <p:cNvPr id="14" name="r14"/>
          <p:cNvSpPr/>
          <p:nvPr/>
        </p:nvSpPr>
        <p:spPr>
          <a:xfrm>
            <a:off x="8083296" y="1828800"/>
            <a:ext cx="3520440" cy="77724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15"/>
          <p:cNvSpPr txBox="1"/>
          <p:nvPr/>
        </p:nvSpPr>
        <p:spPr>
          <a:xfrm>
            <a:off x="8083296" y="18288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800" b="1">
                <a:solidFill>
                  <a:srgbClr val="FFFFFF"/>
                </a:solidFill>
                <a:latin typeface="Segoe UI"/>
              </a:rPr>
              <a:t>Later</a:t>
            </a:r>
          </a:p>
        </p:txBody>
      </p:sp>
      <p:sp>
        <p:nvSpPr>
          <p:cNvPr id="16" name="r16"/>
          <p:cNvSpPr/>
          <p:nvPr/>
        </p:nvSpPr>
        <p:spPr>
          <a:xfrm>
            <a:off x="8083296" y="260604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A"/>
            </a:solidFill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8403336" y="2880360"/>
            <a:ext cx="292608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B2A4A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Telemedicine visits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B2A4A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Insurance integration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lang="en-US" sz="1000" b="0">
                <a:solidFill>
                  <a:srgbClr val="0B2A4A"/>
                </a:solidFill>
                <a:latin typeface="Segoe UI"/>
              </a:rPr>
              <a:t>●  </a:t>
            </a:r>
            <a:r>
              <a:rPr lang="en-US" sz="1400" b="0">
                <a:solidFill>
                  <a:srgbClr val="1B2B34"/>
                </a:solidFill>
                <a:latin typeface="Segoe UI"/>
              </a:rPr>
              <a:t>Mobile app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900" b="0">
                <a:solidFill>
                  <a:srgbClr val="5B6B73"/>
                </a:solidFill>
                <a:latin typeface="Segoe UI"/>
              </a:rPr>
              <a:t>EMR System  •  MyHealth Portal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lang="en-US" sz="900" b="1">
                <a:solidFill>
                  <a:srgbClr val="5B6B7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29E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4000" b="1">
                <a:solidFill>
                  <a:srgbClr val="FFFFFF"/>
                </a:solidFill>
                <a:latin typeface="Segoe UI"/>
              </a:rPr>
              <a:t>Bring your clinic online.</a:t>
            </a:r>
          </a:p>
        </p:txBody>
      </p:sp>
      <p:sp>
        <p:nvSpPr>
          <p:cNvPr id="6" name="t6"/>
          <p:cNvSpPr txBox="1"/>
          <p:nvPr/>
        </p:nvSpPr>
        <p:spPr>
          <a:xfrm>
            <a:off x="1371600" y="329184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600" b="0">
                <a:solidFill>
                  <a:srgbClr val="C8DDE8"/>
                </a:solidFill>
                <a:latin typeface="Segoe UI"/>
              </a:rPr>
              <a:t>A complete EMR + patient portal covering registration, appointments, labs, billing, and pharmacy — in one modern platform.</a:t>
            </a:r>
          </a:p>
        </p:txBody>
      </p:sp>
      <p:sp>
        <p:nvSpPr>
          <p:cNvPr id="7" name="t7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000" b="1">
                <a:solidFill>
                  <a:srgbClr val="3EC6B6"/>
                </a:solidFill>
                <a:latin typeface="Segoe UI"/>
              </a:rPr>
              <a:t>Let's schedule a pilot.</a:t>
            </a:r>
          </a:p>
        </p:txBody>
      </p:sp>
      <p:sp>
        <p:nvSpPr>
          <p:cNvPr id="8" name="t8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18000" rIns="45720" bIns="1800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1200" b="0">
                <a:solidFill>
                  <a:srgbClr val="5B6B73"/>
                </a:solidFill>
                <a:latin typeface="Segoe UI"/>
              </a:rPr>
              <a:t>Demo  •  localhost:3000        Stack  •  Nuxt +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B2A4A"/>
      </a:dk2>
      <a:lt2>
        <a:srgbClr val="F2F7FA"/>
      </a:lt2>
      <a:accent1>
        <a:srgbClr val="129E9E"/>
      </a:accent1>
      <a:accent2>
        <a:srgbClr val="3EC6B6"/>
      </a:accent2>
      <a:accent3>
        <a:srgbClr val="0E7C7C"/>
      </a:accent3>
      <a:accent4>
        <a:srgbClr val="5B6B73"/>
      </a:accent4>
      <a:accent5>
        <a:srgbClr val="1B2B34"/>
      </a:accent5>
      <a:accent6>
        <a:srgbClr val="C8DDE8"/>
      </a:accent6>
      <a:hlink>
        <a:srgbClr val="129E9E"/>
      </a:hlink>
      <a:folHlink>
        <a:srgbClr val="0E7C7C"/>
      </a:folHlink>
    </a:clrScheme>
    <a:fontScheme name="Offic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